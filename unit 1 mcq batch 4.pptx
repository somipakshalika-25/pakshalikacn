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640080"/>
            <a:ext cx="1097280" cy="1097280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554480"/>
            <a:ext cx="594360" cy="594360"/>
          </a:xfrm>
          <a:prstGeom prst="ellipse">
            <a:avLst/>
          </a:prstGeom>
          <a:solidFill>
            <a:srgbClr val="53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011680"/>
            <a:ext cx="411480" cy="411480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2743200"/>
            <a:ext cx="1371600" cy="13716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1">
                <a:solidFill>
                  <a:srgbClr val="53D2DC"/>
                </a:solidFill>
                <a:latin typeface="Aptos"/>
              </a:rPr>
              <a:t>CSA07 • NUMERICAL-BASED MCQ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8503920" cy="1234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UNIT 1
Questions 16–20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758952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300" b="0">
                <a:solidFill>
                  <a:srgbClr val="DCE8F5"/>
                </a:solidFill>
                <a:latin typeface="Aptos"/>
              </a:rPr>
              <a:t>Detailed step-by-step calculations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160520"/>
            <a:ext cx="1188720" cy="731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80560"/>
            <a:ext cx="7498079" cy="685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ptos"/>
              </a:rPr>
              <a:t>Formulas  •  Substitution  •  Final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72200"/>
            <a:ext cx="7772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100" b="0">
                <a:solidFill>
                  <a:srgbClr val="BECDDC"/>
                </a:solidFill>
                <a:latin typeface="Aptos"/>
              </a:rPr>
              <a:t>Prepared from the uploaded CSA07 numerical MCQ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87552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What these questions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55448"/>
            <a:ext cx="1325880" cy="384048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9296" y="182880"/>
            <a:ext cx="12527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Q16–20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106984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300" b="1">
                <a:solidFill>
                  <a:srgbClr val="122344"/>
                </a:solidFill>
                <a:latin typeface="Aptos"/>
              </a:rPr>
              <a:t>Five short problems on protocol overhead and payload size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73936"/>
            <a:ext cx="466344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00784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800" b="1">
                <a:solidFill>
                  <a:srgbClr val="122344"/>
                </a:solidFill>
                <a:latin typeface="Aptos"/>
              </a:rPr>
              <a:t>OSI layer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19072"/>
            <a:ext cx="658368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0">
                <a:solidFill>
                  <a:srgbClr val="232F3E"/>
                </a:solidFill>
                <a:latin typeface="Aptos"/>
              </a:rPr>
              <a:t>500 B message + 7 × 20 B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532888"/>
            <a:ext cx="502920" cy="502920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615184"/>
            <a:ext cx="466344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42032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800" b="1">
                <a:solidFill>
                  <a:srgbClr val="122344"/>
                </a:solidFill>
                <a:latin typeface="Aptos"/>
              </a:rPr>
              <a:t>Overhead percentage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658368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0">
                <a:solidFill>
                  <a:srgbClr val="232F3E"/>
                </a:solidFill>
                <a:latin typeface="Aptos"/>
              </a:rPr>
              <a:t>4 layers × 10 B on a 1000 B message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374136"/>
            <a:ext cx="502920" cy="502920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456432"/>
            <a:ext cx="466344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83280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800" b="1">
                <a:solidFill>
                  <a:srgbClr val="122344"/>
                </a:solidFill>
                <a:latin typeface="Aptos"/>
              </a:rPr>
              <a:t>Application payload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01568"/>
            <a:ext cx="658368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0">
                <a:solidFill>
                  <a:srgbClr val="232F3E"/>
                </a:solidFill>
                <a:latin typeface="Aptos"/>
              </a:rPr>
              <a:t>1500 B frame − IP/TCP headers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215384"/>
            <a:ext cx="502920" cy="502920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297680"/>
            <a:ext cx="466344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24528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800" b="1">
                <a:solidFill>
                  <a:srgbClr val="122344"/>
                </a:solidFill>
                <a:latin typeface="Aptos"/>
              </a:rPr>
              <a:t>Overhead percentage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42816"/>
            <a:ext cx="658368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0">
                <a:solidFill>
                  <a:srgbClr val="232F3E"/>
                </a:solidFill>
                <a:latin typeface="Aptos"/>
              </a:rPr>
              <a:t>40 B headers added to an 800 B message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056632"/>
            <a:ext cx="502920" cy="502920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138928"/>
            <a:ext cx="466344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65776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800" b="1">
                <a:solidFill>
                  <a:srgbClr val="122344"/>
                </a:solidFill>
                <a:latin typeface="Aptos"/>
              </a:rPr>
              <a:t>Maximum TCP MSS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084064"/>
            <a:ext cx="658368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0">
                <a:solidFill>
                  <a:srgbClr val="232F3E"/>
                </a:solidFill>
                <a:latin typeface="Aptos"/>
              </a:rPr>
              <a:t>MTU − IP header − TCP header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900" b="1">
                <a:solidFill>
                  <a:srgbClr val="5A6978"/>
                </a:solidFill>
                <a:latin typeface="Aptos"/>
              </a:rPr>
              <a:t>CSA07 • UNIT 1 • NUMERICAL MCQ SOLUTIONS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5A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87552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Q16 • Total size after OSI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55448"/>
            <a:ext cx="1325880" cy="384048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9296" y="182880"/>
            <a:ext cx="12527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1088136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Question: A 500 B message gains 20 B at each of the 7 OSI layers. What is the total size?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675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91440" cy="3429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6236208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Step-by-step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6236208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1. Message size = 500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2. Total overhead = number of layers × overhead per layer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   = 7 × 20 B = 140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3. Total size = message size + overhead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   = 500 B + 140 B = 640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49039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828800"/>
            <a:ext cx="91440" cy="3429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1" y="1993392"/>
            <a:ext cx="3310127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Final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1" y="2487168"/>
            <a:ext cx="3310127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  <a:r>
              <a:t>500 + (7 × 20)</a:t>
            </a:r>
          </a:p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  <a:r>
              <a:t>= 500 + 140</a:t>
            </a:r>
          </a:p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  <a:r>
              <a:t>= 640 B</a:t>
            </a:r>
          </a:p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  <a:r>
              <a:t>Correct option: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98480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0">
                <a:solidFill>
                  <a:srgbClr val="5A6978"/>
                </a:solidFill>
                <a:latin typeface="Aptos"/>
              </a:rPr>
              <a:t>Remember: total transmitted size = original message + all layer headers.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900" b="1">
                <a:solidFill>
                  <a:srgbClr val="5A6978"/>
                </a:solidFill>
                <a:latin typeface="Aptos"/>
              </a:rPr>
              <a:t>CSA07 • UNIT 1 • NUMERICAL MCQ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5A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87552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Q17 • Calculate overhead percentage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55448"/>
            <a:ext cx="1325880" cy="384048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9296" y="182880"/>
            <a:ext cx="12527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1088136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Question: Four layers each add 10 B to a 1000 B message. Find the overhead percentage.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675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91440" cy="3429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6236208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Step-by-step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6236208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1. Total overhead = 4 × 10 B = 40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2. Message size = 1000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3. Overhead percentage = (overhead ÷ message size) × 100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   = (40 ÷ 1000) × 100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   = 0.04 × 100 = 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49039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828800"/>
            <a:ext cx="91440" cy="3429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1" y="1993392"/>
            <a:ext cx="3310127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Final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1" y="2487168"/>
            <a:ext cx="3310127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Overhead = 40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Percentage = 4%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Correct option: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Note: the PDF's explanation also corrects the answer to option 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98480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600" b="0">
                <a:solidFill>
                  <a:srgbClr val="5A6978"/>
                </a:solidFill>
                <a:latin typeface="Aptos"/>
              </a:rPr>
              <a:t>Use the original message size as the denominator for this question's stated method.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900" b="1">
                <a:solidFill>
                  <a:srgbClr val="5A6978"/>
                </a:solidFill>
                <a:latin typeface="Aptos"/>
              </a:rPr>
              <a:t>CSA07 • UNIT 1 • NUMERICAL MCQ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5A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87552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Q18 • Maximum application payload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55448"/>
            <a:ext cx="1325880" cy="384048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9296" y="182880"/>
            <a:ext cx="12527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1088136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Question: A 1500 B Ethernet frame has a 20 B IP header and a 20 B TCP header. Find the maximum application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675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91440" cy="3429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6236208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Step-by-step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6236208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1. Total IP + TCP header = 20 B + 20 B = 40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2. Frame size available = 1500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3. Application payload = frame size − headers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   = 1500 B − 40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   = 1460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49039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828800"/>
            <a:ext cx="91440" cy="3429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1" y="1993392"/>
            <a:ext cx="3310127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Final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1" y="2487168"/>
            <a:ext cx="3310127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F3E"/>
                </a:solidFill>
                <a:latin typeface="Aptos"/>
              </a:defRPr>
            </a:pPr>
            <a:r>
              <a:t>Payload = 1500 − (20 + 20)</a:t>
            </a:r>
          </a:p>
          <a:p>
            <a:pPr>
              <a:spcAft>
                <a:spcPts val="1200"/>
              </a:spcAft>
              <a:defRPr sz="1900">
                <a:solidFill>
                  <a:srgbClr val="232F3E"/>
                </a:solidFill>
                <a:latin typeface="Aptos"/>
              </a:defRPr>
            </a:pPr>
            <a:r>
              <a:t>= 1500 − 40</a:t>
            </a:r>
          </a:p>
          <a:p>
            <a:pPr>
              <a:spcAft>
                <a:spcPts val="1200"/>
              </a:spcAft>
              <a:defRPr sz="1900">
                <a:solidFill>
                  <a:srgbClr val="232F3E"/>
                </a:solidFill>
                <a:latin typeface="Aptos"/>
              </a:defRPr>
            </a:pPr>
            <a:r>
              <a:t>= 1460 B</a:t>
            </a:r>
          </a:p>
          <a:p>
            <a:pPr>
              <a:spcAft>
                <a:spcPts val="1200"/>
              </a:spcAft>
              <a:defRPr sz="1900">
                <a:solidFill>
                  <a:srgbClr val="232F3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>
                <a:solidFill>
                  <a:srgbClr val="232F3E"/>
                </a:solidFill>
                <a:latin typeface="Aptos"/>
              </a:defRPr>
            </a:pPr>
            <a:r>
              <a:t>Correct option: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98480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0">
                <a:solidFill>
                  <a:srgbClr val="5A6978"/>
                </a:solidFill>
                <a:latin typeface="Aptos"/>
              </a:rPr>
              <a:t>The headers occupy 40 B, leaving 1460 B for application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900" b="1">
                <a:solidFill>
                  <a:srgbClr val="5A6978"/>
                </a:solidFill>
                <a:latin typeface="Aptos"/>
              </a:rPr>
              <a:t>CSA07 • UNIT 1 • NUMERICAL MCQ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5A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87552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Q19 • Overhead as a percentage of total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55448"/>
            <a:ext cx="1325880" cy="384048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9296" y="182880"/>
            <a:ext cx="12527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1088136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Question: An 800 B HTTP message has 40 B of TCP + IP overhead. Find the overhead percentage.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675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91440" cy="3429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6236208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Step-by-step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6236208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1. HTTP message = 800 B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2. TCP + IP overhead = 40 B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3. Total transmitted size = 800 B + 40 B = 840 B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4. Overhead percentage = (overhead ÷ total size) × 100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   = (40 ÷ 840) × 100 ≈ 4.76% ≈ 4.8%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49039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828800"/>
            <a:ext cx="91440" cy="3429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1" y="1993392"/>
            <a:ext cx="3310127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Final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1" y="2487168"/>
            <a:ext cx="3310127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F3E"/>
                </a:solidFill>
                <a:latin typeface="Aptos"/>
              </a:defRPr>
            </a:pPr>
            <a:r>
              <a:t>40 ÷ 840 × 100</a:t>
            </a:r>
          </a:p>
          <a:p>
            <a:pPr>
              <a:spcAft>
                <a:spcPts val="1200"/>
              </a:spcAft>
              <a:defRPr sz="2100">
                <a:solidFill>
                  <a:srgbClr val="232F3E"/>
                </a:solidFill>
                <a:latin typeface="Aptos"/>
              </a:defRPr>
            </a:pPr>
            <a:r>
              <a:t>≈ 4.76%</a:t>
            </a:r>
          </a:p>
          <a:p>
            <a:pPr>
              <a:spcAft>
                <a:spcPts val="1200"/>
              </a:spcAft>
              <a:defRPr sz="2100">
                <a:solidFill>
                  <a:srgbClr val="232F3E"/>
                </a:solidFill>
                <a:latin typeface="Aptos"/>
              </a:defRPr>
            </a:pPr>
            <a:r>
              <a:t>≈ 4.8%</a:t>
            </a:r>
          </a:p>
          <a:p>
            <a:pPr>
              <a:spcAft>
                <a:spcPts val="1200"/>
              </a:spcAft>
              <a:defRPr sz="2100">
                <a:solidFill>
                  <a:srgbClr val="232F3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232F3E"/>
                </a:solidFill>
                <a:latin typeface="Aptos"/>
              </a:defRPr>
            </a:pPr>
            <a:r>
              <a:t>Correct option: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98480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600" b="0">
                <a:solidFill>
                  <a:srgbClr val="5A6978"/>
                </a:solidFill>
                <a:latin typeface="Aptos"/>
              </a:rPr>
              <a:t>Here, the denominator is total transmitted size: 800 B data + 40 B overhead.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900" b="1">
                <a:solidFill>
                  <a:srgbClr val="5A6978"/>
                </a:solidFill>
                <a:latin typeface="Aptos"/>
              </a:rPr>
              <a:t>CSA07 • UNIT 1 • NUMERICAL MCQ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5A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87552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Q20 • Maximum TCP MSS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55448"/>
            <a:ext cx="1325880" cy="384048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9296" y="182880"/>
            <a:ext cx="12527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1088136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Question: MTU = 1500 B, IP header = 20 B, and TCP header = 20 B. Find the maximum segment size (MSS).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675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91440" cy="3429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6236208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Step-by-step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6236208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1. MTU = 1500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2. Total headers = IP header + TCP header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   = 20 B + 20 B = 40 B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3. MSS = MTU − total headers</a:t>
            </a:r>
          </a:p>
          <a:p>
            <a:pPr>
              <a:spcAft>
                <a:spcPts val="1200"/>
              </a:spcAft>
              <a:defRPr sz="1800">
                <a:solidFill>
                  <a:srgbClr val="232F3E"/>
                </a:solidFill>
                <a:latin typeface="Aptos"/>
              </a:defRPr>
            </a:pPr>
            <a:r>
              <a:t>   = 1500 B − 40 B = 1460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49039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828800"/>
            <a:ext cx="91440" cy="3429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1" y="1993392"/>
            <a:ext cx="3310127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2000" b="1">
                <a:solidFill>
                  <a:srgbClr val="122344"/>
                </a:solidFill>
                <a:latin typeface="Aptos"/>
              </a:rPr>
              <a:t>Final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1" y="2487168"/>
            <a:ext cx="3310127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  <a:r>
              <a:t>MSS = 1500 − 20 − 20</a:t>
            </a:r>
          </a:p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  <a:r>
              <a:t>= 1460 B</a:t>
            </a:r>
          </a:p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232F3E"/>
                </a:solidFill>
                <a:latin typeface="Aptos"/>
              </a:defRPr>
            </a:pPr>
            <a:r>
              <a:t>Correct option: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98480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700" b="0">
                <a:solidFill>
                  <a:srgbClr val="5A6978"/>
                </a:solidFill>
                <a:latin typeface="Aptos"/>
              </a:rPr>
              <a:t>MSS is the TCP data payload size; it excludes the IP and TCP headers.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900" b="1">
                <a:solidFill>
                  <a:srgbClr val="5A6978"/>
                </a:solidFill>
                <a:latin typeface="Aptos"/>
              </a:rPr>
              <a:t>CSA07 • UNIT 1 • NUMERICAL MCQ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5A69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87552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Quick revision • Answers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55448"/>
            <a:ext cx="1325880" cy="384048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9296" y="182880"/>
            <a:ext cx="12527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822960" cy="530352"/>
          </a:xfrm>
          <a:prstGeom prst="round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Q.No.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7632" y="1417320"/>
            <a:ext cx="4754880" cy="530352"/>
          </a:xfrm>
          <a:prstGeom prst="round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3352" y="1527048"/>
            <a:ext cx="466344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Formula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417320"/>
            <a:ext cx="2286000" cy="530352"/>
          </a:xfrm>
          <a:prstGeom prst="round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1527048"/>
            <a:ext cx="21945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1417320"/>
            <a:ext cx="1463040" cy="530352"/>
          </a:xfrm>
          <a:prstGeom prst="roundRect">
            <a:avLst/>
          </a:prstGeom>
          <a:solidFill>
            <a:srgbClr val="12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0536" y="1527048"/>
            <a:ext cx="1371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075688"/>
            <a:ext cx="822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194560"/>
            <a:ext cx="71323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Q16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27632" y="2075688"/>
            <a:ext cx="4754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82496" y="2194560"/>
            <a:ext cx="464515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32F3E"/>
                </a:solidFill>
                <a:latin typeface="Aptos"/>
              </a:rPr>
              <a:t>500 + (7 × 20)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2075688"/>
            <a:ext cx="2286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194560"/>
            <a:ext cx="217627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98754"/>
                </a:solidFill>
                <a:latin typeface="Aptos"/>
              </a:rPr>
              <a:t>640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14816" y="2075688"/>
            <a:ext cx="1463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35331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825496"/>
            <a:ext cx="822960" cy="566928"/>
          </a:xfrm>
          <a:prstGeom prst="roundRect">
            <a:avLst/>
          </a:prstGeom>
          <a:solidFill>
            <a:srgbClr val="E7F0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44368"/>
            <a:ext cx="71323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Q17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27632" y="2825496"/>
            <a:ext cx="4754880" cy="566928"/>
          </a:xfrm>
          <a:prstGeom prst="roundRect">
            <a:avLst/>
          </a:prstGeom>
          <a:solidFill>
            <a:srgbClr val="E7F0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82496" y="2944368"/>
            <a:ext cx="464515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32F3E"/>
                </a:solidFill>
                <a:latin typeface="Aptos"/>
              </a:rPr>
              <a:t>(4 × 10 ÷ 1000) × 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5664" y="2825496"/>
            <a:ext cx="2286000" cy="566928"/>
          </a:xfrm>
          <a:prstGeom prst="roundRect">
            <a:avLst/>
          </a:prstGeom>
          <a:solidFill>
            <a:srgbClr val="E7F0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944368"/>
            <a:ext cx="217627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98754"/>
                </a:solidFill>
                <a:latin typeface="Aptos"/>
              </a:rPr>
              <a:t>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14816" y="2825496"/>
            <a:ext cx="1463040" cy="566928"/>
          </a:xfrm>
          <a:prstGeom prst="roundRect">
            <a:avLst/>
          </a:prstGeom>
          <a:solidFill>
            <a:srgbClr val="E7F0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944368"/>
            <a:ext cx="135331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575304"/>
            <a:ext cx="822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3694176"/>
            <a:ext cx="71323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Q18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27632" y="3575304"/>
            <a:ext cx="4754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82496" y="3694176"/>
            <a:ext cx="464515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32F3E"/>
                </a:solidFill>
                <a:latin typeface="Aptos"/>
              </a:rPr>
              <a:t>1500 − 20 − 20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55664" y="3575304"/>
            <a:ext cx="2286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694176"/>
            <a:ext cx="217627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98754"/>
                </a:solidFill>
                <a:latin typeface="Aptos"/>
              </a:rPr>
              <a:t>1460 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14816" y="3575304"/>
            <a:ext cx="1463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3694176"/>
            <a:ext cx="135331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325112"/>
            <a:ext cx="822960" cy="566928"/>
          </a:xfrm>
          <a:prstGeom prst="roundRect">
            <a:avLst/>
          </a:prstGeom>
          <a:solidFill>
            <a:srgbClr val="E7F0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443984"/>
            <a:ext cx="71323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Q19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27632" y="4325112"/>
            <a:ext cx="4754880" cy="566928"/>
          </a:xfrm>
          <a:prstGeom prst="roundRect">
            <a:avLst/>
          </a:prstGeom>
          <a:solidFill>
            <a:srgbClr val="E7F0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82496" y="4443984"/>
            <a:ext cx="464515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32F3E"/>
                </a:solidFill>
                <a:latin typeface="Aptos"/>
              </a:rPr>
              <a:t>(40 ÷ 840) × 100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55664" y="4325112"/>
            <a:ext cx="2286000" cy="566928"/>
          </a:xfrm>
          <a:prstGeom prst="roundRect">
            <a:avLst/>
          </a:prstGeom>
          <a:solidFill>
            <a:srgbClr val="E7F0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4443984"/>
            <a:ext cx="217627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98754"/>
                </a:solidFill>
                <a:latin typeface="Aptos"/>
              </a:rPr>
              <a:t>≈ 4.8%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14816" y="4325112"/>
            <a:ext cx="1463040" cy="566928"/>
          </a:xfrm>
          <a:prstGeom prst="roundRect">
            <a:avLst/>
          </a:prstGeom>
          <a:solidFill>
            <a:srgbClr val="E7F0F6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4443984"/>
            <a:ext cx="135331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074920"/>
            <a:ext cx="822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5193792"/>
            <a:ext cx="71323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Q20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27632" y="5074920"/>
            <a:ext cx="4754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82496" y="5193792"/>
            <a:ext cx="464515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32F3E"/>
                </a:solidFill>
                <a:latin typeface="Aptos"/>
              </a:rPr>
              <a:t>1500 − 20 − 20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55664" y="5074920"/>
            <a:ext cx="2286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0528" y="5193792"/>
            <a:ext cx="217627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98754"/>
                </a:solidFill>
                <a:latin typeface="Aptos"/>
              </a:rPr>
              <a:t>1460 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14816" y="5074920"/>
            <a:ext cx="1463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5193792"/>
            <a:ext cx="1353312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Aptos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1600" b="1">
                <a:solidFill>
                  <a:srgbClr val="122344"/>
                </a:solidFill>
                <a:latin typeface="Aptos"/>
              </a:rPr>
              <a:t>Key formulas: Total size = data + overhead  |  MSS = MTU − IP header − TCP header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rPr sz="900" b="1">
                <a:solidFill>
                  <a:srgbClr val="5A6978"/>
                </a:solidFill>
                <a:latin typeface="Aptos"/>
              </a:rPr>
              <a:t>CSA07 • UNIT 1 • NUMERICAL MCQ SOLUTIONS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1000" b="1">
                <a:solidFill>
                  <a:srgbClr val="5A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